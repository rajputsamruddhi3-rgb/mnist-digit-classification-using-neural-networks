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Lexend Exa" charset="1" panose="00000000000000000000"/>
      <p:regular r:id="rId24"/>
    </p:embeddedFont>
    <p:embeddedFont>
      <p:font typeface="Canva Sans" charset="1" panose="020B0503030501040103"/>
      <p:regular r:id="rId25"/>
    </p:embeddedFont>
    <p:embeddedFont>
      <p:font typeface="Canva Sans Bold" charset="1" panose="020B08030305010401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007652"/>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stretch>
              <a:fillRect l="0" t="0" r="0" b="0"/>
            </a:stretch>
          </a:blipFill>
        </p:spPr>
      </p:sp>
      <p:sp>
        <p:nvSpPr>
          <p:cNvPr name="TextBox 3" id="3"/>
          <p:cNvSpPr txBox="true"/>
          <p:nvPr/>
        </p:nvSpPr>
        <p:spPr>
          <a:xfrm rot="0">
            <a:off x="4755475" y="866775"/>
            <a:ext cx="8777050" cy="1557020"/>
          </a:xfrm>
          <a:prstGeom prst="rect">
            <a:avLst/>
          </a:prstGeom>
        </p:spPr>
        <p:txBody>
          <a:bodyPr anchor="t" rtlCol="false" tIns="0" lIns="0" bIns="0" rIns="0">
            <a:spAutoFit/>
          </a:bodyPr>
          <a:lstStyle/>
          <a:p>
            <a:pPr algn="ctr">
              <a:lnSpc>
                <a:spcPts val="12880"/>
              </a:lnSpc>
            </a:pPr>
            <a:r>
              <a:rPr lang="en-US" sz="9200">
                <a:solidFill>
                  <a:srgbClr val="000000"/>
                </a:solidFill>
                <a:latin typeface="Lexend Exa"/>
                <a:ea typeface="Lexend Exa"/>
                <a:cs typeface="Lexend Exa"/>
                <a:sym typeface="Lexend Exa"/>
              </a:rPr>
              <a:t>TITLE SLIDE</a:t>
            </a:r>
          </a:p>
        </p:txBody>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name="TextBox 5" id="5"/>
          <p:cNvSpPr txBox="true"/>
          <p:nvPr/>
        </p:nvSpPr>
        <p:spPr>
          <a:xfrm rot="0">
            <a:off x="191287" y="2900777"/>
            <a:ext cx="17905425" cy="4181170"/>
          </a:xfrm>
          <a:prstGeom prst="rect">
            <a:avLst/>
          </a:prstGeom>
        </p:spPr>
        <p:txBody>
          <a:bodyPr anchor="t" rtlCol="false" tIns="0" lIns="0" bIns="0" rIns="0">
            <a:spAutoFit/>
          </a:bodyPr>
          <a:lstStyle/>
          <a:p>
            <a:pPr algn="ctr">
              <a:lnSpc>
                <a:spcPts val="8308"/>
              </a:lnSpc>
            </a:pPr>
            <a:r>
              <a:rPr lang="en-US" sz="5934" b="true">
                <a:solidFill>
                  <a:srgbClr val="000000"/>
                </a:solidFill>
                <a:latin typeface="Canva Sans Bold"/>
                <a:ea typeface="Canva Sans Bold"/>
                <a:cs typeface="Canva Sans Bold"/>
                <a:sym typeface="Canva Sans Bold"/>
              </a:rPr>
              <a:t>MNIST Digit Classification Using Neural Network </a:t>
            </a:r>
          </a:p>
          <a:p>
            <a:pPr algn="ctr">
              <a:lnSpc>
                <a:spcPts val="8308"/>
              </a:lnSpc>
            </a:pPr>
            <a:r>
              <a:rPr lang="en-US" sz="5934" b="true">
                <a:solidFill>
                  <a:srgbClr val="000000"/>
                </a:solidFill>
                <a:latin typeface="Canva Sans Bold"/>
                <a:ea typeface="Canva Sans Bold"/>
                <a:cs typeface="Canva Sans Bold"/>
                <a:sym typeface="Canva Sans Bold"/>
              </a:rPr>
              <a:t>Internship Project </a:t>
            </a:r>
          </a:p>
          <a:p>
            <a:pPr algn="ctr">
              <a:lnSpc>
                <a:spcPts val="8308"/>
              </a:lnSpc>
            </a:pPr>
          </a:p>
          <a:p>
            <a:pPr algn="ctr">
              <a:lnSpc>
                <a:spcPts val="8308"/>
              </a:lnSpc>
            </a:pPr>
          </a:p>
        </p:txBody>
      </p:sp>
      <p:sp>
        <p:nvSpPr>
          <p:cNvPr name="AutoShape 6" id="6"/>
          <p:cNvSpPr/>
          <p:nvPr/>
        </p:nvSpPr>
        <p:spPr>
          <a:xfrm flipV="true">
            <a:off x="1028700" y="6528952"/>
            <a:ext cx="16230600" cy="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297884"/>
            <a:ext cx="18731780" cy="18731780"/>
          </a:xfrm>
          <a:custGeom>
            <a:avLst/>
            <a:gdLst/>
            <a:ahLst/>
            <a:cxnLst/>
            <a:rect r="r" b="b" t="t" l="l"/>
            <a:pathLst>
              <a:path h="18731780" w="18731780">
                <a:moveTo>
                  <a:pt x="0" y="0"/>
                </a:moveTo>
                <a:lnTo>
                  <a:pt x="18731780" y="0"/>
                </a:lnTo>
                <a:lnTo>
                  <a:pt x="18731780" y="18731780"/>
                </a:lnTo>
                <a:lnTo>
                  <a:pt x="0" y="18731780"/>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
        <p:nvSpPr>
          <p:cNvPr name="TextBox 4" id="4"/>
          <p:cNvSpPr txBox="true"/>
          <p:nvPr/>
        </p:nvSpPr>
        <p:spPr>
          <a:xfrm rot="0">
            <a:off x="-717866" y="714446"/>
            <a:ext cx="12922833" cy="1360262"/>
          </a:xfrm>
          <a:prstGeom prst="rect">
            <a:avLst/>
          </a:prstGeom>
        </p:spPr>
        <p:txBody>
          <a:bodyPr anchor="t" rtlCol="false" tIns="0" lIns="0" bIns="0" rIns="0">
            <a:spAutoFit/>
          </a:bodyPr>
          <a:lstStyle/>
          <a:p>
            <a:pPr algn="ctr">
              <a:lnSpc>
                <a:spcPts val="11124"/>
              </a:lnSpc>
            </a:pPr>
            <a:r>
              <a:rPr lang="en-US" b="true" sz="7946" u="sng">
                <a:solidFill>
                  <a:srgbClr val="000000"/>
                </a:solidFill>
                <a:latin typeface="Canva Sans Bold"/>
                <a:ea typeface="Canva Sans Bold"/>
                <a:cs typeface="Canva Sans Bold"/>
                <a:sym typeface="Canva Sans Bold"/>
              </a:rPr>
              <a:t>Internship Details</a:t>
            </a:r>
          </a:p>
        </p:txBody>
      </p:sp>
      <p:sp>
        <p:nvSpPr>
          <p:cNvPr name="TextBox 5" id="5"/>
          <p:cNvSpPr txBox="true"/>
          <p:nvPr/>
        </p:nvSpPr>
        <p:spPr>
          <a:xfrm rot="0">
            <a:off x="1028700" y="3324004"/>
            <a:ext cx="10863733" cy="4961581"/>
          </a:xfrm>
          <a:prstGeom prst="rect">
            <a:avLst/>
          </a:prstGeom>
        </p:spPr>
        <p:txBody>
          <a:bodyPr anchor="t" rtlCol="false" tIns="0" lIns="0" bIns="0" rIns="0">
            <a:spAutoFit/>
          </a:bodyPr>
          <a:lstStyle/>
          <a:p>
            <a:pPr algn="l" marL="871662" indent="-435831" lvl="1">
              <a:lnSpc>
                <a:spcPts val="5652"/>
              </a:lnSpc>
              <a:buFont typeface="Arial"/>
              <a:buChar char="•"/>
            </a:pPr>
            <a:r>
              <a:rPr lang="en-US" sz="4037">
                <a:solidFill>
                  <a:srgbClr val="000000"/>
                </a:solidFill>
                <a:latin typeface="Canva Sans"/>
                <a:ea typeface="Canva Sans"/>
                <a:cs typeface="Canva Sans"/>
                <a:sym typeface="Canva Sans"/>
              </a:rPr>
              <a:t>Student : Girase Samruddhi Dhirajsing</a:t>
            </a:r>
          </a:p>
          <a:p>
            <a:pPr algn="l" marL="871662" indent="-435831" lvl="1">
              <a:lnSpc>
                <a:spcPts val="5652"/>
              </a:lnSpc>
              <a:buFont typeface="Arial"/>
              <a:buChar char="•"/>
            </a:pPr>
            <a:r>
              <a:rPr lang="en-US" sz="4037">
                <a:solidFill>
                  <a:srgbClr val="000000"/>
                </a:solidFill>
                <a:latin typeface="Canva Sans"/>
                <a:ea typeface="Canva Sans"/>
                <a:cs typeface="Canva Sans"/>
                <a:sym typeface="Canva Sans"/>
              </a:rPr>
              <a:t>Collage : Ajeenkya DY Patil School of Engineering, Lohegaon </a:t>
            </a:r>
          </a:p>
          <a:p>
            <a:pPr algn="l" marL="871662" indent="-435831" lvl="1">
              <a:lnSpc>
                <a:spcPts val="5652"/>
              </a:lnSpc>
              <a:buFont typeface="Arial"/>
              <a:buChar char="•"/>
            </a:pPr>
            <a:r>
              <a:rPr lang="en-US" sz="4037">
                <a:solidFill>
                  <a:srgbClr val="000000"/>
                </a:solidFill>
                <a:latin typeface="Canva Sans"/>
                <a:ea typeface="Canva Sans"/>
                <a:cs typeface="Canva Sans"/>
                <a:sym typeface="Canva Sans"/>
              </a:rPr>
              <a:t>Department : Artificial Intelligence &amp; Machine Learning </a:t>
            </a:r>
          </a:p>
          <a:p>
            <a:pPr algn="l" marL="871662" indent="-435831" lvl="1">
              <a:lnSpc>
                <a:spcPts val="5652"/>
              </a:lnSpc>
              <a:buFont typeface="Arial"/>
              <a:buChar char="•"/>
            </a:pPr>
            <a:r>
              <a:rPr lang="en-US" sz="4037">
                <a:solidFill>
                  <a:srgbClr val="000000"/>
                </a:solidFill>
                <a:latin typeface="Canva Sans"/>
                <a:ea typeface="Canva Sans"/>
                <a:cs typeface="Canva Sans"/>
                <a:sym typeface="Canva Sans"/>
              </a:rPr>
              <a:t>Organization : Neviotech Solution Pvt.Ltd.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71123" y="-8586423"/>
            <a:ext cx="19230245" cy="19230245"/>
          </a:xfrm>
          <a:custGeom>
            <a:avLst/>
            <a:gdLst/>
            <a:ahLst/>
            <a:cxnLst/>
            <a:rect r="r" b="b" t="t" l="l"/>
            <a:pathLst>
              <a:path h="19230245" w="19230245">
                <a:moveTo>
                  <a:pt x="0" y="0"/>
                </a:moveTo>
                <a:lnTo>
                  <a:pt x="19230246" y="0"/>
                </a:lnTo>
                <a:lnTo>
                  <a:pt x="19230246" y="19230246"/>
                </a:lnTo>
                <a:lnTo>
                  <a:pt x="0" y="19230246"/>
                </a:lnTo>
                <a:lnTo>
                  <a:pt x="0" y="0"/>
                </a:lnTo>
                <a:close/>
              </a:path>
            </a:pathLst>
          </a:custGeom>
          <a:blipFill>
            <a:blip r:embed="rId2"/>
            <a:stretch>
              <a:fillRect l="0" t="0" r="0" b="0"/>
            </a:stretch>
          </a:blipFill>
        </p:spPr>
      </p:sp>
      <p:sp>
        <p:nvSpPr>
          <p:cNvPr name="Freeform 3" id="3"/>
          <p:cNvSpPr/>
          <p:nvPr/>
        </p:nvSpPr>
        <p:spPr>
          <a:xfrm flipH="false" flipV="false" rot="0">
            <a:off x="7883751" y="2150623"/>
            <a:ext cx="9375549" cy="7258490"/>
          </a:xfrm>
          <a:custGeom>
            <a:avLst/>
            <a:gdLst/>
            <a:ahLst/>
            <a:cxnLst/>
            <a:rect r="r" b="b" t="t" l="l"/>
            <a:pathLst>
              <a:path h="7258490" w="9375549">
                <a:moveTo>
                  <a:pt x="0" y="0"/>
                </a:moveTo>
                <a:lnTo>
                  <a:pt x="9375549" y="0"/>
                </a:lnTo>
                <a:lnTo>
                  <a:pt x="9375549" y="7258489"/>
                </a:lnTo>
                <a:lnTo>
                  <a:pt x="0" y="7258489"/>
                </a:lnTo>
                <a:lnTo>
                  <a:pt x="0" y="0"/>
                </a:lnTo>
                <a:close/>
              </a:path>
            </a:pathLst>
          </a:custGeom>
          <a:blipFill>
            <a:blip r:embed="rId3"/>
            <a:stretch>
              <a:fillRect l="0" t="0" r="0" b="0"/>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name="TextBox 5" id="5"/>
          <p:cNvSpPr txBox="true"/>
          <p:nvPr/>
        </p:nvSpPr>
        <p:spPr>
          <a:xfrm rot="0">
            <a:off x="1028700" y="246077"/>
            <a:ext cx="8057256" cy="1403322"/>
          </a:xfrm>
          <a:prstGeom prst="rect">
            <a:avLst/>
          </a:prstGeom>
        </p:spPr>
        <p:txBody>
          <a:bodyPr anchor="t" rtlCol="false" tIns="0" lIns="0" bIns="0" rIns="0">
            <a:spAutoFit/>
          </a:bodyPr>
          <a:lstStyle/>
          <a:p>
            <a:pPr algn="ctr">
              <a:lnSpc>
                <a:spcPts val="11413"/>
              </a:lnSpc>
            </a:pPr>
            <a:r>
              <a:rPr lang="en-US" b="true" sz="8152" u="sng">
                <a:solidFill>
                  <a:srgbClr val="000000"/>
                </a:solidFill>
                <a:latin typeface="Canva Sans Bold"/>
                <a:ea typeface="Canva Sans Bold"/>
                <a:cs typeface="Canva Sans Bold"/>
                <a:sym typeface="Canva Sans Bold"/>
              </a:rPr>
              <a:t>Certificate Page</a:t>
            </a:r>
          </a:p>
        </p:txBody>
      </p:sp>
      <p:sp>
        <p:nvSpPr>
          <p:cNvPr name="TextBox 6" id="6"/>
          <p:cNvSpPr txBox="true"/>
          <p:nvPr/>
        </p:nvSpPr>
        <p:spPr>
          <a:xfrm rot="0">
            <a:off x="640772" y="4219892"/>
            <a:ext cx="6726635" cy="1780540"/>
          </a:xfrm>
          <a:prstGeom prst="rect">
            <a:avLst/>
          </a:prstGeom>
        </p:spPr>
        <p:txBody>
          <a:bodyPr anchor="t" rtlCol="false" tIns="0" lIns="0" bIns="0" rIns="0">
            <a:spAutoFit/>
          </a:bodyPr>
          <a:lstStyle/>
          <a:p>
            <a:pPr algn="l" marL="734059" indent="-367030" lvl="1">
              <a:lnSpc>
                <a:spcPts val="4759"/>
              </a:lnSpc>
              <a:buFont typeface="Arial"/>
              <a:buChar char="•"/>
            </a:pPr>
            <a:r>
              <a:rPr lang="en-US" sz="3399">
                <a:solidFill>
                  <a:srgbClr val="000000"/>
                </a:solidFill>
                <a:latin typeface="Canva Sans"/>
                <a:ea typeface="Canva Sans"/>
                <a:cs typeface="Canva Sans"/>
                <a:sym typeface="Canva Sans"/>
              </a:rPr>
              <a:t>Internship Project submitted</a:t>
            </a:r>
          </a:p>
          <a:p>
            <a:pPr algn="l">
              <a:lnSpc>
                <a:spcPts val="4759"/>
              </a:lnSpc>
            </a:pPr>
            <a:r>
              <a:rPr lang="en-US" sz="3399">
                <a:solidFill>
                  <a:srgbClr val="000000"/>
                </a:solidFill>
                <a:latin typeface="Canva Sans"/>
                <a:ea typeface="Canva Sans"/>
                <a:cs typeface="Canva Sans"/>
                <a:sym typeface="Canva Sans"/>
              </a:rPr>
              <a:t>     as part of Internship Training </a:t>
            </a:r>
          </a:p>
          <a:p>
            <a:pPr algn="l">
              <a:lnSpc>
                <a:spcPts val="4759"/>
              </a:lnSpc>
            </a:pPr>
            <a:r>
              <a:rPr lang="en-US" sz="3399">
                <a:solidFill>
                  <a:srgbClr val="000000"/>
                </a:solidFill>
                <a:latin typeface="Canva Sans"/>
                <a:ea typeface="Canva Sans"/>
                <a:cs typeface="Canva Sans"/>
                <a:sym typeface="Canva Sans"/>
              </a:rPr>
              <a:t>     P</a:t>
            </a:r>
            <a:r>
              <a:rPr lang="en-US" sz="3399">
                <a:solidFill>
                  <a:srgbClr val="000000"/>
                </a:solidFill>
                <a:latin typeface="Canva Sans"/>
                <a:ea typeface="Canva Sans"/>
                <a:cs typeface="Canva Sans"/>
                <a:sym typeface="Canva Sans"/>
              </a:rPr>
              <a:t>rogram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233065"/>
            <a:ext cx="18523529" cy="18523529"/>
          </a:xfrm>
          <a:custGeom>
            <a:avLst/>
            <a:gdLst/>
            <a:ahLst/>
            <a:cxnLst/>
            <a:rect r="r" b="b" t="t" l="l"/>
            <a:pathLst>
              <a:path h="18523529" w="18523529">
                <a:moveTo>
                  <a:pt x="0" y="0"/>
                </a:moveTo>
                <a:lnTo>
                  <a:pt x="18523529" y="0"/>
                </a:lnTo>
                <a:lnTo>
                  <a:pt x="18523529" y="18523530"/>
                </a:lnTo>
                <a:lnTo>
                  <a:pt x="0" y="18523530"/>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name="TextBox 4" id="4"/>
          <p:cNvSpPr txBox="true"/>
          <p:nvPr/>
        </p:nvSpPr>
        <p:spPr>
          <a:xfrm rot="0">
            <a:off x="1772827" y="895350"/>
            <a:ext cx="8507799" cy="1229415"/>
          </a:xfrm>
          <a:prstGeom prst="rect">
            <a:avLst/>
          </a:prstGeom>
        </p:spPr>
        <p:txBody>
          <a:bodyPr anchor="t" rtlCol="false" tIns="0" lIns="0" bIns="0" rIns="0">
            <a:spAutoFit/>
          </a:bodyPr>
          <a:lstStyle/>
          <a:p>
            <a:pPr algn="ctr">
              <a:lnSpc>
                <a:spcPts val="10076"/>
              </a:lnSpc>
            </a:pPr>
            <a:r>
              <a:rPr lang="en-US" b="true" sz="7197" u="sng">
                <a:solidFill>
                  <a:srgbClr val="000000"/>
                </a:solidFill>
                <a:latin typeface="Canva Sans Bold"/>
                <a:ea typeface="Canva Sans Bold"/>
                <a:cs typeface="Canva Sans Bold"/>
                <a:sym typeface="Canva Sans Bold"/>
              </a:rPr>
              <a:t>Acknowledgement </a:t>
            </a:r>
          </a:p>
        </p:txBody>
      </p:sp>
      <p:sp>
        <p:nvSpPr>
          <p:cNvPr name="TextBox 5" id="5"/>
          <p:cNvSpPr txBox="true"/>
          <p:nvPr/>
        </p:nvSpPr>
        <p:spPr>
          <a:xfrm rot="0">
            <a:off x="1028700" y="3670904"/>
            <a:ext cx="17144730" cy="2140152"/>
          </a:xfrm>
          <a:prstGeom prst="rect">
            <a:avLst/>
          </a:prstGeom>
        </p:spPr>
        <p:txBody>
          <a:bodyPr anchor="t" rtlCol="false" tIns="0" lIns="0" bIns="0" rIns="0">
            <a:spAutoFit/>
          </a:bodyPr>
          <a:lstStyle/>
          <a:p>
            <a:pPr algn="l">
              <a:lnSpc>
                <a:spcPts val="5705"/>
              </a:lnSpc>
            </a:pPr>
            <a:r>
              <a:rPr lang="en-US" sz="4075">
                <a:solidFill>
                  <a:srgbClr val="000000"/>
                </a:solidFill>
                <a:latin typeface="Canva Sans"/>
                <a:ea typeface="Canva Sans"/>
                <a:cs typeface="Canva Sans"/>
                <a:sym typeface="Canva Sans"/>
              </a:rPr>
              <a:t>I would like to express my deep gratitude to Neviotech Solution Pvt. Ltd. for providing me with the opportunity to work on this enriching project titled "MNIST Digit Classification Using Neural Networks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97071" y="-4616269"/>
            <a:ext cx="26378544" cy="15257470"/>
          </a:xfrm>
          <a:custGeom>
            <a:avLst/>
            <a:gdLst/>
            <a:ahLst/>
            <a:cxnLst/>
            <a:rect r="r" b="b" t="t" l="l"/>
            <a:pathLst>
              <a:path h="15257470" w="26378544">
                <a:moveTo>
                  <a:pt x="0" y="0"/>
                </a:moveTo>
                <a:lnTo>
                  <a:pt x="26378544" y="0"/>
                </a:lnTo>
                <a:lnTo>
                  <a:pt x="26378544" y="15257470"/>
                </a:lnTo>
                <a:lnTo>
                  <a:pt x="0" y="15257470"/>
                </a:lnTo>
                <a:lnTo>
                  <a:pt x="0" y="0"/>
                </a:lnTo>
                <a:close/>
              </a:path>
            </a:pathLst>
          </a:custGeom>
          <a:blipFill>
            <a:blip r:embed="rId2"/>
            <a:stretch>
              <a:fillRect l="0" t="-36444" r="0" b="-36444"/>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name="TextBox 4" id="4"/>
          <p:cNvSpPr txBox="true"/>
          <p:nvPr/>
        </p:nvSpPr>
        <p:spPr>
          <a:xfrm rot="0">
            <a:off x="1469880" y="866775"/>
            <a:ext cx="6861972" cy="1441339"/>
          </a:xfrm>
          <a:prstGeom prst="rect">
            <a:avLst/>
          </a:prstGeom>
        </p:spPr>
        <p:txBody>
          <a:bodyPr anchor="t" rtlCol="false" tIns="0" lIns="0" bIns="0" rIns="0">
            <a:spAutoFit/>
          </a:bodyPr>
          <a:lstStyle/>
          <a:p>
            <a:pPr algn="ctr">
              <a:lnSpc>
                <a:spcPts val="11762"/>
              </a:lnSpc>
            </a:pPr>
            <a:r>
              <a:rPr lang="en-US" b="true" sz="8401" u="sng">
                <a:solidFill>
                  <a:srgbClr val="000000"/>
                </a:solidFill>
                <a:latin typeface="Canva Sans Bold"/>
                <a:ea typeface="Canva Sans Bold"/>
                <a:cs typeface="Canva Sans Bold"/>
                <a:sym typeface="Canva Sans Bold"/>
              </a:rPr>
              <a:t>Introduction </a:t>
            </a:r>
          </a:p>
        </p:txBody>
      </p:sp>
      <p:sp>
        <p:nvSpPr>
          <p:cNvPr name="TextBox 5" id="5"/>
          <p:cNvSpPr txBox="true"/>
          <p:nvPr/>
        </p:nvSpPr>
        <p:spPr>
          <a:xfrm rot="0">
            <a:off x="1469880" y="3516884"/>
            <a:ext cx="14164581" cy="3832389"/>
          </a:xfrm>
          <a:prstGeom prst="rect">
            <a:avLst/>
          </a:prstGeom>
        </p:spPr>
        <p:txBody>
          <a:bodyPr anchor="t" rtlCol="false" tIns="0" lIns="0" bIns="0" rIns="0">
            <a:spAutoFit/>
          </a:bodyPr>
          <a:lstStyle/>
          <a:p>
            <a:pPr algn="l">
              <a:lnSpc>
                <a:spcPts val="6104"/>
              </a:lnSpc>
            </a:pPr>
            <a:r>
              <a:rPr lang="en-US" sz="4360">
                <a:solidFill>
                  <a:srgbClr val="000000"/>
                </a:solidFill>
                <a:latin typeface="Canva Sans"/>
                <a:ea typeface="Canva Sans"/>
                <a:cs typeface="Canva Sans"/>
                <a:sym typeface="Canva Sans"/>
              </a:rPr>
              <a:t>Artificial Intelligence (AI) and Machine Learning (ML) have emerged as transformative technologies that are reshaping various industries by enabling computers to perform tasks that traditionally required human intelligence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8984" y="-5011884"/>
            <a:ext cx="19146984" cy="19146984"/>
          </a:xfrm>
          <a:custGeom>
            <a:avLst/>
            <a:gdLst/>
            <a:ahLst/>
            <a:cxnLst/>
            <a:rect r="r" b="b" t="t" l="l"/>
            <a:pathLst>
              <a:path h="19146984" w="19146984">
                <a:moveTo>
                  <a:pt x="0" y="0"/>
                </a:moveTo>
                <a:lnTo>
                  <a:pt x="19146984" y="0"/>
                </a:lnTo>
                <a:lnTo>
                  <a:pt x="19146984" y="19146983"/>
                </a:lnTo>
                <a:lnTo>
                  <a:pt x="0" y="19146983"/>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4" id="4"/>
          <p:cNvSpPr txBox="true"/>
          <p:nvPr/>
        </p:nvSpPr>
        <p:spPr>
          <a:xfrm rot="0">
            <a:off x="1389223" y="885825"/>
            <a:ext cx="9441266" cy="1301817"/>
          </a:xfrm>
          <a:prstGeom prst="rect">
            <a:avLst/>
          </a:prstGeom>
        </p:spPr>
        <p:txBody>
          <a:bodyPr anchor="t" rtlCol="false" tIns="0" lIns="0" bIns="0" rIns="0">
            <a:spAutoFit/>
          </a:bodyPr>
          <a:lstStyle/>
          <a:p>
            <a:pPr algn="ctr">
              <a:lnSpc>
                <a:spcPts val="10654"/>
              </a:lnSpc>
            </a:pPr>
            <a:r>
              <a:rPr lang="en-US" b="true" sz="7610" u="sng">
                <a:solidFill>
                  <a:srgbClr val="000000"/>
                </a:solidFill>
                <a:latin typeface="Canva Sans Bold"/>
                <a:ea typeface="Canva Sans Bold"/>
                <a:cs typeface="Canva Sans Bold"/>
                <a:sym typeface="Canva Sans Bold"/>
              </a:rPr>
              <a:t>Problem Statement </a:t>
            </a:r>
          </a:p>
        </p:txBody>
      </p:sp>
      <p:sp>
        <p:nvSpPr>
          <p:cNvPr name="TextBox 5" id="5"/>
          <p:cNvSpPr txBox="true"/>
          <p:nvPr/>
        </p:nvSpPr>
        <p:spPr>
          <a:xfrm rot="0">
            <a:off x="1208962" y="3652390"/>
            <a:ext cx="15870077" cy="3857659"/>
          </a:xfrm>
          <a:prstGeom prst="rect">
            <a:avLst/>
          </a:prstGeom>
        </p:spPr>
        <p:txBody>
          <a:bodyPr anchor="t" rtlCol="false" tIns="0" lIns="0" bIns="0" rIns="0">
            <a:spAutoFit/>
          </a:bodyPr>
          <a:lstStyle/>
          <a:p>
            <a:pPr algn="l">
              <a:lnSpc>
                <a:spcPts val="5135"/>
              </a:lnSpc>
            </a:pPr>
            <a:r>
              <a:rPr lang="en-US" sz="3667">
                <a:solidFill>
                  <a:srgbClr val="000000"/>
                </a:solidFill>
                <a:latin typeface="Canva Sans"/>
                <a:ea typeface="Canva Sans"/>
                <a:cs typeface="Canva Sans"/>
                <a:sym typeface="Canva Sans"/>
              </a:rPr>
              <a:t>The recognition of handwritten digits remains a significant challenge in computer vision due to the immense diversity in individual writing styles. Variations in stroke thickness, scale, curvature, and orientation often exceed the capabilities of traditional image processing, necessitating more robust, deep-learning-based approaches to achieve high classification accuracy.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40330" y="-9885641"/>
            <a:ext cx="20484787" cy="20172641"/>
          </a:xfrm>
          <a:custGeom>
            <a:avLst/>
            <a:gdLst/>
            <a:ahLst/>
            <a:cxnLst/>
            <a:rect r="r" b="b" t="t" l="l"/>
            <a:pathLst>
              <a:path h="20172641" w="20484787">
                <a:moveTo>
                  <a:pt x="0" y="0"/>
                </a:moveTo>
                <a:lnTo>
                  <a:pt x="20484787" y="0"/>
                </a:lnTo>
                <a:lnTo>
                  <a:pt x="20484787" y="20172641"/>
                </a:lnTo>
                <a:lnTo>
                  <a:pt x="0" y="20172641"/>
                </a:lnTo>
                <a:lnTo>
                  <a:pt x="0" y="0"/>
                </a:lnTo>
                <a:close/>
              </a:path>
            </a:pathLst>
          </a:custGeom>
          <a:blipFill>
            <a:blip r:embed="rId2"/>
            <a:stretch>
              <a:fillRect l="-12895" t="0" r="-12895" b="-27737"/>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name="TextBox 4" id="4"/>
          <p:cNvSpPr txBox="true"/>
          <p:nvPr/>
        </p:nvSpPr>
        <p:spPr>
          <a:xfrm rot="0">
            <a:off x="0" y="885825"/>
            <a:ext cx="7756785" cy="1347271"/>
          </a:xfrm>
          <a:prstGeom prst="rect">
            <a:avLst/>
          </a:prstGeom>
        </p:spPr>
        <p:txBody>
          <a:bodyPr anchor="t" rtlCol="false" tIns="0" lIns="0" bIns="0" rIns="0">
            <a:spAutoFit/>
          </a:bodyPr>
          <a:lstStyle/>
          <a:p>
            <a:pPr algn="ctr">
              <a:lnSpc>
                <a:spcPts val="11072"/>
              </a:lnSpc>
            </a:pPr>
            <a:r>
              <a:rPr lang="en-US" b="true" sz="7909" u="sng">
                <a:solidFill>
                  <a:srgbClr val="000000"/>
                </a:solidFill>
                <a:latin typeface="Canva Sans Bold"/>
                <a:ea typeface="Canva Sans Bold"/>
                <a:cs typeface="Canva Sans Bold"/>
                <a:sym typeface="Canva Sans Bold"/>
              </a:rPr>
              <a:t>Objectives</a:t>
            </a:r>
          </a:p>
        </p:txBody>
      </p:sp>
      <p:sp>
        <p:nvSpPr>
          <p:cNvPr name="TextBox 5" id="5"/>
          <p:cNvSpPr txBox="true"/>
          <p:nvPr/>
        </p:nvSpPr>
        <p:spPr>
          <a:xfrm rot="0">
            <a:off x="1028700" y="3792644"/>
            <a:ext cx="16230600" cy="2615987"/>
          </a:xfrm>
          <a:prstGeom prst="rect">
            <a:avLst/>
          </a:prstGeom>
        </p:spPr>
        <p:txBody>
          <a:bodyPr anchor="t" rtlCol="false" tIns="0" lIns="0" bIns="0" rIns="0">
            <a:spAutoFit/>
          </a:bodyPr>
          <a:lstStyle/>
          <a:p>
            <a:pPr algn="l" marL="802684" indent="-401342" lvl="1">
              <a:lnSpc>
                <a:spcPts val="5204"/>
              </a:lnSpc>
              <a:buFont typeface="Arial"/>
              <a:buChar char="•"/>
            </a:pPr>
            <a:r>
              <a:rPr lang="en-US" sz="3717">
                <a:solidFill>
                  <a:srgbClr val="000000"/>
                </a:solidFill>
                <a:latin typeface="Canva Sans"/>
                <a:ea typeface="Canva Sans"/>
                <a:cs typeface="Canva Sans"/>
                <a:sym typeface="Canva Sans"/>
              </a:rPr>
              <a:t>To preprocess and normalize the MNIST dataset for optimal neural network training.</a:t>
            </a:r>
          </a:p>
          <a:p>
            <a:pPr algn="l" marL="802684" indent="-401342" lvl="1">
              <a:lnSpc>
                <a:spcPts val="5204"/>
              </a:lnSpc>
              <a:buFont typeface="Arial"/>
              <a:buChar char="•"/>
            </a:pPr>
            <a:r>
              <a:rPr lang="en-US" sz="3717">
                <a:solidFill>
                  <a:srgbClr val="000000"/>
                </a:solidFill>
                <a:latin typeface="Canva Sans"/>
                <a:ea typeface="Canva Sans"/>
                <a:cs typeface="Canva Sans"/>
                <a:sym typeface="Canva Sans"/>
              </a:rPr>
              <a:t>To design, implement, and train a Multi-Layer Perceptron (MLP) as a baseline model.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377552" y="-4152898"/>
            <a:ext cx="27043103" cy="15327866"/>
          </a:xfrm>
          <a:custGeom>
            <a:avLst/>
            <a:gdLst/>
            <a:ahLst/>
            <a:cxnLst/>
            <a:rect r="r" b="b" t="t" l="l"/>
            <a:pathLst>
              <a:path h="15327866" w="27043103">
                <a:moveTo>
                  <a:pt x="0" y="0"/>
                </a:moveTo>
                <a:lnTo>
                  <a:pt x="27043104" y="0"/>
                </a:lnTo>
                <a:lnTo>
                  <a:pt x="27043104" y="15327866"/>
                </a:lnTo>
                <a:lnTo>
                  <a:pt x="0" y="15327866"/>
                </a:lnTo>
                <a:lnTo>
                  <a:pt x="0" y="0"/>
                </a:lnTo>
                <a:close/>
              </a:path>
            </a:pathLst>
          </a:custGeom>
          <a:blipFill>
            <a:blip r:embed="rId2"/>
            <a:stretch>
              <a:fillRect l="0" t="-38215" r="0" b="-38215"/>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4" id="4"/>
          <p:cNvSpPr txBox="true"/>
          <p:nvPr/>
        </p:nvSpPr>
        <p:spPr>
          <a:xfrm rot="0">
            <a:off x="-517176" y="895350"/>
            <a:ext cx="13129372" cy="1229444"/>
          </a:xfrm>
          <a:prstGeom prst="rect">
            <a:avLst/>
          </a:prstGeom>
        </p:spPr>
        <p:txBody>
          <a:bodyPr anchor="t" rtlCol="false" tIns="0" lIns="0" bIns="0" rIns="0">
            <a:spAutoFit/>
          </a:bodyPr>
          <a:lstStyle/>
          <a:p>
            <a:pPr algn="ctr">
              <a:lnSpc>
                <a:spcPts val="10077"/>
              </a:lnSpc>
            </a:pPr>
            <a:r>
              <a:rPr lang="en-US" b="true" sz="7197" u="sng">
                <a:solidFill>
                  <a:srgbClr val="000000"/>
                </a:solidFill>
                <a:latin typeface="Canva Sans Bold"/>
                <a:ea typeface="Canva Sans Bold"/>
                <a:cs typeface="Canva Sans Bold"/>
                <a:sym typeface="Canva Sans Bold"/>
              </a:rPr>
              <a:t>About MNIST Dataset </a:t>
            </a:r>
          </a:p>
        </p:txBody>
      </p:sp>
      <p:sp>
        <p:nvSpPr>
          <p:cNvPr name="TextBox 5" id="5"/>
          <p:cNvSpPr txBox="true"/>
          <p:nvPr/>
        </p:nvSpPr>
        <p:spPr>
          <a:xfrm rot="0">
            <a:off x="1028700" y="3444360"/>
            <a:ext cx="15122239" cy="3580765"/>
          </a:xfrm>
          <a:prstGeom prst="rect">
            <a:avLst/>
          </a:prstGeom>
        </p:spPr>
        <p:txBody>
          <a:bodyPr anchor="t" rtlCol="false" tIns="0" lIns="0" bIns="0" rIns="0">
            <a:spAutoFit/>
          </a:bodyPr>
          <a:lstStyle/>
          <a:p>
            <a:pPr algn="l">
              <a:lnSpc>
                <a:spcPts val="4759"/>
              </a:lnSpc>
            </a:pPr>
            <a:r>
              <a:rPr lang="en-US" sz="3399">
                <a:solidFill>
                  <a:srgbClr val="000000"/>
                </a:solidFill>
                <a:latin typeface="Canva Sans"/>
                <a:ea typeface="Canva Sans"/>
                <a:cs typeface="Canva Sans"/>
                <a:sym typeface="Canva Sans"/>
              </a:rPr>
              <a:t>The MNIST dataset (Modified National Institute of Standards and Technology) is the undisputed "Hello, World!" of computer vision and machine learning. Introduced by Yann LeCun, Corinna Cortes, and Christopher Burges in 1998, it serves as a foundational benchmark for testing image classification algorithms.</a:t>
            </a:r>
          </a:p>
          <a:p>
            <a:pPr algn="l">
              <a:lnSpc>
                <a:spcPts val="475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9469584"/>
            <a:ext cx="19756584" cy="19756584"/>
          </a:xfrm>
          <a:custGeom>
            <a:avLst/>
            <a:gdLst/>
            <a:ahLst/>
            <a:cxnLst/>
            <a:rect r="r" b="b" t="t" l="l"/>
            <a:pathLst>
              <a:path h="19756584" w="19756584">
                <a:moveTo>
                  <a:pt x="0" y="0"/>
                </a:moveTo>
                <a:lnTo>
                  <a:pt x="19756584" y="0"/>
                </a:lnTo>
                <a:lnTo>
                  <a:pt x="19756584" y="19756584"/>
                </a:lnTo>
                <a:lnTo>
                  <a:pt x="0" y="19756584"/>
                </a:lnTo>
                <a:lnTo>
                  <a:pt x="0" y="0"/>
                </a:lnTo>
                <a:close/>
              </a:path>
            </a:pathLst>
          </a:custGeom>
          <a:blipFill>
            <a:blip r:embed="rId2"/>
            <a:stretch>
              <a:fillRect l="0" t="0" r="0" b="0"/>
            </a:stretch>
          </a:blipFill>
        </p:spPr>
      </p:sp>
      <p:sp>
        <p:nvSpPr>
          <p:cNvPr name="Freeform 3" id="3"/>
          <p:cNvSpPr/>
          <p:nvPr/>
        </p:nvSpPr>
        <p:spPr>
          <a:xfrm flipH="false" flipV="false" rot="0">
            <a:off x="9144000" y="1631704"/>
            <a:ext cx="8378148" cy="7928221"/>
          </a:xfrm>
          <a:custGeom>
            <a:avLst/>
            <a:gdLst/>
            <a:ahLst/>
            <a:cxnLst/>
            <a:rect r="r" b="b" t="t" l="l"/>
            <a:pathLst>
              <a:path h="7928221" w="8378148">
                <a:moveTo>
                  <a:pt x="0" y="0"/>
                </a:moveTo>
                <a:lnTo>
                  <a:pt x="8378148" y="0"/>
                </a:lnTo>
                <a:lnTo>
                  <a:pt x="8378148" y="7928221"/>
                </a:lnTo>
                <a:lnTo>
                  <a:pt x="0" y="7928221"/>
                </a:lnTo>
                <a:lnTo>
                  <a:pt x="0" y="0"/>
                </a:lnTo>
                <a:close/>
              </a:path>
            </a:pathLst>
          </a:custGeom>
          <a:blipFill>
            <a:blip r:embed="rId3"/>
            <a:stretch>
              <a:fillRect l="0" t="-2337" r="0" b="-2337"/>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name="TextBox 5" id="5"/>
          <p:cNvSpPr txBox="true"/>
          <p:nvPr/>
        </p:nvSpPr>
        <p:spPr>
          <a:xfrm rot="0">
            <a:off x="-877548" y="256308"/>
            <a:ext cx="11200820" cy="1319148"/>
          </a:xfrm>
          <a:prstGeom prst="rect">
            <a:avLst/>
          </a:prstGeom>
        </p:spPr>
        <p:txBody>
          <a:bodyPr anchor="t" rtlCol="false" tIns="0" lIns="0" bIns="0" rIns="0">
            <a:spAutoFit/>
          </a:bodyPr>
          <a:lstStyle/>
          <a:p>
            <a:pPr algn="ctr">
              <a:lnSpc>
                <a:spcPts val="10726"/>
              </a:lnSpc>
            </a:pPr>
            <a:r>
              <a:rPr lang="en-US" b="true" sz="7661" u="sng">
                <a:solidFill>
                  <a:srgbClr val="000000"/>
                </a:solidFill>
                <a:latin typeface="Canva Sans Bold"/>
                <a:ea typeface="Canva Sans Bold"/>
                <a:cs typeface="Canva Sans Bold"/>
                <a:sym typeface="Canva Sans Bold"/>
              </a:rPr>
              <a:t>Dataset sample </a:t>
            </a:r>
          </a:p>
        </p:txBody>
      </p:sp>
      <p:sp>
        <p:nvSpPr>
          <p:cNvPr name="TextBox 6" id="6"/>
          <p:cNvSpPr txBox="true"/>
          <p:nvPr/>
        </p:nvSpPr>
        <p:spPr>
          <a:xfrm rot="0">
            <a:off x="685290" y="3482299"/>
            <a:ext cx="8075143" cy="1661201"/>
          </a:xfrm>
          <a:prstGeom prst="rect">
            <a:avLst/>
          </a:prstGeom>
        </p:spPr>
        <p:txBody>
          <a:bodyPr anchor="t" rtlCol="false" tIns="0" lIns="0" bIns="0" rIns="0">
            <a:spAutoFit/>
          </a:bodyPr>
          <a:lstStyle/>
          <a:p>
            <a:pPr algn="l" marL="1038340" indent="-519170" lvl="1">
              <a:lnSpc>
                <a:spcPts val="6733"/>
              </a:lnSpc>
              <a:buFont typeface="Arial"/>
              <a:buChar char="•"/>
            </a:pPr>
            <a:r>
              <a:rPr lang="en-US" sz="4809">
                <a:solidFill>
                  <a:srgbClr val="000000"/>
                </a:solidFill>
                <a:latin typeface="Canva Sans"/>
                <a:ea typeface="Canva Sans"/>
                <a:cs typeface="Canva Sans"/>
                <a:sym typeface="Canva Sans"/>
              </a:rPr>
              <a:t> example handwriting</a:t>
            </a:r>
          </a:p>
          <a:p>
            <a:pPr algn="l">
              <a:lnSpc>
                <a:spcPts val="6733"/>
              </a:lnSpc>
            </a:pPr>
            <a:r>
              <a:rPr lang="en-US" sz="4809">
                <a:solidFill>
                  <a:srgbClr val="000000"/>
                </a:solidFill>
                <a:latin typeface="Canva Sans"/>
                <a:ea typeface="Canva Sans"/>
                <a:cs typeface="Canva Sans"/>
                <a:sym typeface="Canva Sans"/>
              </a:rPr>
              <a:t>     digit image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6918" y="-7952510"/>
            <a:ext cx="19541837" cy="18239510"/>
          </a:xfrm>
          <a:custGeom>
            <a:avLst/>
            <a:gdLst/>
            <a:ahLst/>
            <a:cxnLst/>
            <a:rect r="r" b="b" t="t" l="l"/>
            <a:pathLst>
              <a:path h="18239510" w="19541837">
                <a:moveTo>
                  <a:pt x="0" y="0"/>
                </a:moveTo>
                <a:lnTo>
                  <a:pt x="19541836" y="0"/>
                </a:lnTo>
                <a:lnTo>
                  <a:pt x="19541836" y="18239510"/>
                </a:lnTo>
                <a:lnTo>
                  <a:pt x="0" y="18239510"/>
                </a:lnTo>
                <a:lnTo>
                  <a:pt x="0" y="0"/>
                </a:lnTo>
                <a:close/>
              </a:path>
            </a:pathLst>
          </a:custGeom>
          <a:blipFill>
            <a:blip r:embed="rId2"/>
            <a:stretch>
              <a:fillRect l="0" t="-714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name="TextBox 4" id="4"/>
          <p:cNvSpPr txBox="true"/>
          <p:nvPr/>
        </p:nvSpPr>
        <p:spPr>
          <a:xfrm rot="0">
            <a:off x="1028700" y="895350"/>
            <a:ext cx="8850619" cy="1168763"/>
          </a:xfrm>
          <a:prstGeom prst="rect">
            <a:avLst/>
          </a:prstGeom>
        </p:spPr>
        <p:txBody>
          <a:bodyPr anchor="t" rtlCol="false" tIns="0" lIns="0" bIns="0" rIns="0">
            <a:spAutoFit/>
          </a:bodyPr>
          <a:lstStyle/>
          <a:p>
            <a:pPr algn="ctr">
              <a:lnSpc>
                <a:spcPts val="9519"/>
              </a:lnSpc>
            </a:pPr>
            <a:r>
              <a:rPr lang="en-US" b="true" sz="6799" u="sng">
                <a:solidFill>
                  <a:srgbClr val="000000"/>
                </a:solidFill>
                <a:latin typeface="Canva Sans Bold"/>
                <a:ea typeface="Canva Sans Bold"/>
                <a:cs typeface="Canva Sans Bold"/>
                <a:sym typeface="Canva Sans Bold"/>
              </a:rPr>
              <a:t>System Architecture </a:t>
            </a:r>
          </a:p>
        </p:txBody>
      </p:sp>
      <p:sp>
        <p:nvSpPr>
          <p:cNvPr name="TextBox 5" id="5"/>
          <p:cNvSpPr txBox="true"/>
          <p:nvPr/>
        </p:nvSpPr>
        <p:spPr>
          <a:xfrm rot="0">
            <a:off x="1592990" y="3880076"/>
            <a:ext cx="16572659" cy="677270"/>
          </a:xfrm>
          <a:prstGeom prst="rect">
            <a:avLst/>
          </a:prstGeom>
        </p:spPr>
        <p:txBody>
          <a:bodyPr anchor="t" rtlCol="false" tIns="0" lIns="0" bIns="0" rIns="0">
            <a:spAutoFit/>
          </a:bodyPr>
          <a:lstStyle/>
          <a:p>
            <a:pPr algn="l" marL="858883" indent="-429442" lvl="1">
              <a:lnSpc>
                <a:spcPts val="5569"/>
              </a:lnSpc>
              <a:buFont typeface="Arial"/>
              <a:buChar char="•"/>
            </a:pPr>
            <a:r>
              <a:rPr lang="en-US" sz="3978">
                <a:solidFill>
                  <a:srgbClr val="000000"/>
                </a:solidFill>
                <a:latin typeface="Canva Sans"/>
                <a:ea typeface="Canva Sans"/>
                <a:cs typeface="Canva Sans"/>
                <a:sym typeface="Canva Sans"/>
              </a:rPr>
              <a:t>Input Image → Preprocessing → Neural Network → Prediction</a:t>
            </a:r>
          </a:p>
        </p:txBody>
      </p:sp>
      <p:grpSp>
        <p:nvGrpSpPr>
          <p:cNvPr name="Group 6" id="6"/>
          <p:cNvGrpSpPr/>
          <p:nvPr/>
        </p:nvGrpSpPr>
        <p:grpSpPr>
          <a:xfrm rot="0">
            <a:off x="1028700" y="6792191"/>
            <a:ext cx="3610157" cy="1637307"/>
            <a:chOff x="0" y="0"/>
            <a:chExt cx="950823" cy="431225"/>
          </a:xfrm>
        </p:grpSpPr>
        <p:sp>
          <p:nvSpPr>
            <p:cNvPr name="Freeform 7" id="7"/>
            <p:cNvSpPr/>
            <p:nvPr/>
          </p:nvSpPr>
          <p:spPr>
            <a:xfrm flipH="false" flipV="false" rot="0">
              <a:off x="0" y="0"/>
              <a:ext cx="950823" cy="431225"/>
            </a:xfrm>
            <a:custGeom>
              <a:avLst/>
              <a:gdLst/>
              <a:ahLst/>
              <a:cxnLst/>
              <a:rect r="r" b="b" t="t" l="l"/>
              <a:pathLst>
                <a:path h="431225" w="950823">
                  <a:moveTo>
                    <a:pt x="36456" y="0"/>
                  </a:moveTo>
                  <a:lnTo>
                    <a:pt x="914367" y="0"/>
                  </a:lnTo>
                  <a:cubicBezTo>
                    <a:pt x="924036" y="0"/>
                    <a:pt x="933309" y="3841"/>
                    <a:pt x="940146" y="10678"/>
                  </a:cubicBezTo>
                  <a:cubicBezTo>
                    <a:pt x="946982" y="17515"/>
                    <a:pt x="950823" y="26787"/>
                    <a:pt x="950823" y="36456"/>
                  </a:cubicBezTo>
                  <a:lnTo>
                    <a:pt x="950823" y="394769"/>
                  </a:lnTo>
                  <a:cubicBezTo>
                    <a:pt x="950823" y="404438"/>
                    <a:pt x="946982" y="413710"/>
                    <a:pt x="940146" y="420547"/>
                  </a:cubicBezTo>
                  <a:cubicBezTo>
                    <a:pt x="933309" y="427384"/>
                    <a:pt x="924036" y="431225"/>
                    <a:pt x="914367" y="431225"/>
                  </a:cubicBezTo>
                  <a:lnTo>
                    <a:pt x="36456" y="431225"/>
                  </a:lnTo>
                  <a:cubicBezTo>
                    <a:pt x="26787" y="431225"/>
                    <a:pt x="17515" y="427384"/>
                    <a:pt x="10678" y="420547"/>
                  </a:cubicBezTo>
                  <a:cubicBezTo>
                    <a:pt x="3841" y="413710"/>
                    <a:pt x="0" y="404438"/>
                    <a:pt x="0" y="394769"/>
                  </a:cubicBezTo>
                  <a:lnTo>
                    <a:pt x="0" y="36456"/>
                  </a:lnTo>
                  <a:cubicBezTo>
                    <a:pt x="0" y="26787"/>
                    <a:pt x="3841" y="17515"/>
                    <a:pt x="10678" y="10678"/>
                  </a:cubicBezTo>
                  <a:cubicBezTo>
                    <a:pt x="17515" y="3841"/>
                    <a:pt x="26787" y="0"/>
                    <a:pt x="36456" y="0"/>
                  </a:cubicBezTo>
                  <a:close/>
                </a:path>
              </a:pathLst>
            </a:custGeom>
            <a:solidFill>
              <a:srgbClr val="D6E2D1"/>
            </a:solidFill>
          </p:spPr>
        </p:sp>
        <p:sp>
          <p:nvSpPr>
            <p:cNvPr name="TextBox 8" id="8"/>
            <p:cNvSpPr txBox="true"/>
            <p:nvPr/>
          </p:nvSpPr>
          <p:spPr>
            <a:xfrm>
              <a:off x="0" y="-85725"/>
              <a:ext cx="950823" cy="516950"/>
            </a:xfrm>
            <a:prstGeom prst="rect">
              <a:avLst/>
            </a:prstGeom>
          </p:spPr>
          <p:txBody>
            <a:bodyPr anchor="ctr" rtlCol="false" tIns="50800" lIns="50800" bIns="50800" rIns="50800"/>
            <a:lstStyle/>
            <a:p>
              <a:pPr algn="ctr">
                <a:lnSpc>
                  <a:spcPts val="6719"/>
                </a:lnSpc>
              </a:pPr>
              <a:r>
                <a:rPr lang="en-US" sz="4800">
                  <a:solidFill>
                    <a:srgbClr val="000000"/>
                  </a:solidFill>
                  <a:latin typeface="Canva Sans"/>
                  <a:ea typeface="Canva Sans"/>
                  <a:cs typeface="Canva Sans"/>
                  <a:sym typeface="Canva Sans"/>
                </a:rPr>
                <a:t>Input</a:t>
              </a:r>
            </a:p>
          </p:txBody>
        </p:sp>
      </p:grpSp>
      <p:grpSp>
        <p:nvGrpSpPr>
          <p:cNvPr name="Group 9" id="9"/>
          <p:cNvGrpSpPr/>
          <p:nvPr/>
        </p:nvGrpSpPr>
        <p:grpSpPr>
          <a:xfrm rot="0">
            <a:off x="9286875" y="6792191"/>
            <a:ext cx="3987755" cy="1637307"/>
            <a:chOff x="0" y="0"/>
            <a:chExt cx="1050273" cy="431225"/>
          </a:xfrm>
        </p:grpSpPr>
        <p:sp>
          <p:nvSpPr>
            <p:cNvPr name="Freeform 10" id="10"/>
            <p:cNvSpPr/>
            <p:nvPr/>
          </p:nvSpPr>
          <p:spPr>
            <a:xfrm flipH="false" flipV="false" rot="0">
              <a:off x="0" y="0"/>
              <a:ext cx="1050273" cy="431225"/>
            </a:xfrm>
            <a:custGeom>
              <a:avLst/>
              <a:gdLst/>
              <a:ahLst/>
              <a:cxnLst/>
              <a:rect r="r" b="b" t="t" l="l"/>
              <a:pathLst>
                <a:path h="431225" w="1050273">
                  <a:moveTo>
                    <a:pt x="33004" y="0"/>
                  </a:moveTo>
                  <a:lnTo>
                    <a:pt x="1017269" y="0"/>
                  </a:lnTo>
                  <a:cubicBezTo>
                    <a:pt x="1035496" y="0"/>
                    <a:pt x="1050273" y="14776"/>
                    <a:pt x="1050273" y="33004"/>
                  </a:cubicBezTo>
                  <a:lnTo>
                    <a:pt x="1050273" y="398221"/>
                  </a:lnTo>
                  <a:cubicBezTo>
                    <a:pt x="1050273" y="406974"/>
                    <a:pt x="1046796" y="415369"/>
                    <a:pt x="1040606" y="421558"/>
                  </a:cubicBezTo>
                  <a:cubicBezTo>
                    <a:pt x="1034417" y="427748"/>
                    <a:pt x="1026022" y="431225"/>
                    <a:pt x="1017269" y="431225"/>
                  </a:cubicBezTo>
                  <a:lnTo>
                    <a:pt x="33004" y="431225"/>
                  </a:lnTo>
                  <a:cubicBezTo>
                    <a:pt x="24251" y="431225"/>
                    <a:pt x="15856" y="427748"/>
                    <a:pt x="9667" y="421558"/>
                  </a:cubicBezTo>
                  <a:cubicBezTo>
                    <a:pt x="3477" y="415369"/>
                    <a:pt x="0" y="406974"/>
                    <a:pt x="0" y="398221"/>
                  </a:cubicBezTo>
                  <a:lnTo>
                    <a:pt x="0" y="33004"/>
                  </a:lnTo>
                  <a:cubicBezTo>
                    <a:pt x="0" y="24251"/>
                    <a:pt x="3477" y="15856"/>
                    <a:pt x="9667" y="9667"/>
                  </a:cubicBezTo>
                  <a:cubicBezTo>
                    <a:pt x="15856" y="3477"/>
                    <a:pt x="24251" y="0"/>
                    <a:pt x="33004" y="0"/>
                  </a:cubicBezTo>
                  <a:close/>
                </a:path>
              </a:pathLst>
            </a:custGeom>
            <a:solidFill>
              <a:srgbClr val="D6E2D1"/>
            </a:solidFill>
          </p:spPr>
        </p:sp>
        <p:sp>
          <p:nvSpPr>
            <p:cNvPr name="TextBox 11" id="11"/>
            <p:cNvSpPr txBox="true"/>
            <p:nvPr/>
          </p:nvSpPr>
          <p:spPr>
            <a:xfrm>
              <a:off x="0" y="-85725"/>
              <a:ext cx="1050273" cy="516950"/>
            </a:xfrm>
            <a:prstGeom prst="rect">
              <a:avLst/>
            </a:prstGeom>
          </p:spPr>
          <p:txBody>
            <a:bodyPr anchor="ctr" rtlCol="false" tIns="50800" lIns="50800" bIns="50800" rIns="50800"/>
            <a:lstStyle/>
            <a:p>
              <a:pPr algn="ctr">
                <a:lnSpc>
                  <a:spcPts val="6719"/>
                </a:lnSpc>
              </a:pPr>
              <a:r>
                <a:rPr lang="en-US" sz="4800">
                  <a:solidFill>
                    <a:srgbClr val="000000"/>
                  </a:solidFill>
                  <a:latin typeface="Canva Sans"/>
                  <a:ea typeface="Canva Sans"/>
                  <a:cs typeface="Canva Sans"/>
                  <a:sym typeface="Canva Sans"/>
                </a:rPr>
                <a:t>Neural Net</a:t>
              </a:r>
            </a:p>
          </p:txBody>
        </p:sp>
      </p:grpSp>
      <p:grpSp>
        <p:nvGrpSpPr>
          <p:cNvPr name="Group 12" id="12"/>
          <p:cNvGrpSpPr/>
          <p:nvPr/>
        </p:nvGrpSpPr>
        <p:grpSpPr>
          <a:xfrm rot="0">
            <a:off x="5143682" y="6743548"/>
            <a:ext cx="3838393" cy="1685950"/>
            <a:chOff x="0" y="0"/>
            <a:chExt cx="1010935" cy="444036"/>
          </a:xfrm>
        </p:grpSpPr>
        <p:sp>
          <p:nvSpPr>
            <p:cNvPr name="Freeform 13" id="13"/>
            <p:cNvSpPr/>
            <p:nvPr/>
          </p:nvSpPr>
          <p:spPr>
            <a:xfrm flipH="false" flipV="false" rot="0">
              <a:off x="0" y="0"/>
              <a:ext cx="1010935" cy="444036"/>
            </a:xfrm>
            <a:custGeom>
              <a:avLst/>
              <a:gdLst/>
              <a:ahLst/>
              <a:cxnLst/>
              <a:rect r="r" b="b" t="t" l="l"/>
              <a:pathLst>
                <a:path h="444036" w="1010935">
                  <a:moveTo>
                    <a:pt x="34288" y="0"/>
                  </a:moveTo>
                  <a:lnTo>
                    <a:pt x="976646" y="0"/>
                  </a:lnTo>
                  <a:cubicBezTo>
                    <a:pt x="995583" y="0"/>
                    <a:pt x="1010935" y="15351"/>
                    <a:pt x="1010935" y="34288"/>
                  </a:cubicBezTo>
                  <a:lnTo>
                    <a:pt x="1010935" y="409748"/>
                  </a:lnTo>
                  <a:cubicBezTo>
                    <a:pt x="1010935" y="428685"/>
                    <a:pt x="995583" y="444036"/>
                    <a:pt x="976646" y="444036"/>
                  </a:cubicBezTo>
                  <a:lnTo>
                    <a:pt x="34288" y="444036"/>
                  </a:lnTo>
                  <a:cubicBezTo>
                    <a:pt x="15351" y="444036"/>
                    <a:pt x="0" y="428685"/>
                    <a:pt x="0" y="409748"/>
                  </a:cubicBezTo>
                  <a:lnTo>
                    <a:pt x="0" y="34288"/>
                  </a:lnTo>
                  <a:cubicBezTo>
                    <a:pt x="0" y="15351"/>
                    <a:pt x="15351" y="0"/>
                    <a:pt x="34288" y="0"/>
                  </a:cubicBezTo>
                  <a:close/>
                </a:path>
              </a:pathLst>
            </a:custGeom>
            <a:solidFill>
              <a:srgbClr val="D6E2D1"/>
            </a:solidFill>
          </p:spPr>
        </p:sp>
        <p:sp>
          <p:nvSpPr>
            <p:cNvPr name="TextBox 14" id="14"/>
            <p:cNvSpPr txBox="true"/>
            <p:nvPr/>
          </p:nvSpPr>
          <p:spPr>
            <a:xfrm>
              <a:off x="0" y="-85725"/>
              <a:ext cx="1010935" cy="529761"/>
            </a:xfrm>
            <a:prstGeom prst="rect">
              <a:avLst/>
            </a:prstGeom>
          </p:spPr>
          <p:txBody>
            <a:bodyPr anchor="ctr" rtlCol="false" tIns="50800" lIns="50800" bIns="50800" rIns="50800"/>
            <a:lstStyle/>
            <a:p>
              <a:pPr algn="ctr">
                <a:lnSpc>
                  <a:spcPts val="6719"/>
                </a:lnSpc>
              </a:pPr>
              <a:r>
                <a:rPr lang="en-US" sz="4800">
                  <a:solidFill>
                    <a:srgbClr val="000000"/>
                  </a:solidFill>
                  <a:latin typeface="Canva Sans"/>
                  <a:ea typeface="Canva Sans"/>
                  <a:cs typeface="Canva Sans"/>
                  <a:sym typeface="Canva Sans"/>
                </a:rPr>
                <a:t>Preprocess</a:t>
              </a:r>
            </a:p>
          </p:txBody>
        </p:sp>
      </p:grpSp>
      <p:grpSp>
        <p:nvGrpSpPr>
          <p:cNvPr name="Group 15" id="15"/>
          <p:cNvGrpSpPr/>
          <p:nvPr/>
        </p:nvGrpSpPr>
        <p:grpSpPr>
          <a:xfrm rot="0">
            <a:off x="8737024" y="7923874"/>
            <a:ext cx="47625" cy="228533"/>
            <a:chOff x="0" y="0"/>
            <a:chExt cx="12543" cy="60190"/>
          </a:xfrm>
        </p:grpSpPr>
        <p:sp>
          <p:nvSpPr>
            <p:cNvPr name="Freeform 16" id="16"/>
            <p:cNvSpPr/>
            <p:nvPr/>
          </p:nvSpPr>
          <p:spPr>
            <a:xfrm flipH="false" flipV="false" rot="0">
              <a:off x="0" y="0"/>
              <a:ext cx="12543" cy="60190"/>
            </a:xfrm>
            <a:custGeom>
              <a:avLst/>
              <a:gdLst/>
              <a:ahLst/>
              <a:cxnLst/>
              <a:rect r="r" b="b" t="t" l="l"/>
              <a:pathLst>
                <a:path h="60190" w="12543">
                  <a:moveTo>
                    <a:pt x="6272" y="0"/>
                  </a:moveTo>
                  <a:lnTo>
                    <a:pt x="6272" y="0"/>
                  </a:lnTo>
                  <a:cubicBezTo>
                    <a:pt x="7935" y="0"/>
                    <a:pt x="9530" y="661"/>
                    <a:pt x="10706" y="1837"/>
                  </a:cubicBezTo>
                  <a:cubicBezTo>
                    <a:pt x="11882" y="3013"/>
                    <a:pt x="12543" y="4608"/>
                    <a:pt x="12543" y="6272"/>
                  </a:cubicBezTo>
                  <a:lnTo>
                    <a:pt x="12543" y="53918"/>
                  </a:lnTo>
                  <a:cubicBezTo>
                    <a:pt x="12543" y="55581"/>
                    <a:pt x="11882" y="57177"/>
                    <a:pt x="10706" y="58353"/>
                  </a:cubicBezTo>
                  <a:cubicBezTo>
                    <a:pt x="9530" y="59529"/>
                    <a:pt x="7935" y="60190"/>
                    <a:pt x="6272" y="60190"/>
                  </a:cubicBezTo>
                  <a:lnTo>
                    <a:pt x="6272" y="60190"/>
                  </a:lnTo>
                  <a:cubicBezTo>
                    <a:pt x="4608" y="60190"/>
                    <a:pt x="3013" y="59529"/>
                    <a:pt x="1837" y="58353"/>
                  </a:cubicBezTo>
                  <a:cubicBezTo>
                    <a:pt x="661" y="57177"/>
                    <a:pt x="0" y="55581"/>
                    <a:pt x="0" y="53918"/>
                  </a:cubicBezTo>
                  <a:lnTo>
                    <a:pt x="0" y="6272"/>
                  </a:lnTo>
                  <a:cubicBezTo>
                    <a:pt x="0" y="4608"/>
                    <a:pt x="661" y="3013"/>
                    <a:pt x="1837" y="1837"/>
                  </a:cubicBezTo>
                  <a:cubicBezTo>
                    <a:pt x="3013" y="661"/>
                    <a:pt x="4608" y="0"/>
                    <a:pt x="6272" y="0"/>
                  </a:cubicBezTo>
                  <a:close/>
                </a:path>
              </a:pathLst>
            </a:custGeom>
            <a:solidFill>
              <a:srgbClr val="D6E2D1"/>
            </a:solidFill>
          </p:spPr>
        </p:sp>
        <p:sp>
          <p:nvSpPr>
            <p:cNvPr name="TextBox 17" id="17"/>
            <p:cNvSpPr txBox="true"/>
            <p:nvPr/>
          </p:nvSpPr>
          <p:spPr>
            <a:xfrm>
              <a:off x="0" y="-47625"/>
              <a:ext cx="12543" cy="107815"/>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3579432" y="6743548"/>
            <a:ext cx="3612565" cy="1685950"/>
            <a:chOff x="0" y="0"/>
            <a:chExt cx="951457" cy="444036"/>
          </a:xfrm>
        </p:grpSpPr>
        <p:sp>
          <p:nvSpPr>
            <p:cNvPr name="Freeform 19" id="19"/>
            <p:cNvSpPr/>
            <p:nvPr/>
          </p:nvSpPr>
          <p:spPr>
            <a:xfrm flipH="false" flipV="false" rot="0">
              <a:off x="0" y="0"/>
              <a:ext cx="951457" cy="444036"/>
            </a:xfrm>
            <a:custGeom>
              <a:avLst/>
              <a:gdLst/>
              <a:ahLst/>
              <a:cxnLst/>
              <a:rect r="r" b="b" t="t" l="l"/>
              <a:pathLst>
                <a:path h="444036" w="951457">
                  <a:moveTo>
                    <a:pt x="36432" y="0"/>
                  </a:moveTo>
                  <a:lnTo>
                    <a:pt x="915026" y="0"/>
                  </a:lnTo>
                  <a:cubicBezTo>
                    <a:pt x="935146" y="0"/>
                    <a:pt x="951457" y="16311"/>
                    <a:pt x="951457" y="36432"/>
                  </a:cubicBezTo>
                  <a:lnTo>
                    <a:pt x="951457" y="407604"/>
                  </a:lnTo>
                  <a:cubicBezTo>
                    <a:pt x="951457" y="427725"/>
                    <a:pt x="935146" y="444036"/>
                    <a:pt x="915026" y="444036"/>
                  </a:cubicBezTo>
                  <a:lnTo>
                    <a:pt x="36432" y="444036"/>
                  </a:lnTo>
                  <a:cubicBezTo>
                    <a:pt x="16311" y="444036"/>
                    <a:pt x="0" y="427725"/>
                    <a:pt x="0" y="407604"/>
                  </a:cubicBezTo>
                  <a:lnTo>
                    <a:pt x="0" y="36432"/>
                  </a:lnTo>
                  <a:cubicBezTo>
                    <a:pt x="0" y="16311"/>
                    <a:pt x="16311" y="0"/>
                    <a:pt x="36432" y="0"/>
                  </a:cubicBezTo>
                  <a:close/>
                </a:path>
              </a:pathLst>
            </a:custGeom>
            <a:solidFill>
              <a:srgbClr val="D6E2D1"/>
            </a:solidFill>
          </p:spPr>
        </p:sp>
        <p:sp>
          <p:nvSpPr>
            <p:cNvPr name="TextBox 20" id="20"/>
            <p:cNvSpPr txBox="true"/>
            <p:nvPr/>
          </p:nvSpPr>
          <p:spPr>
            <a:xfrm>
              <a:off x="0" y="-85725"/>
              <a:ext cx="951457" cy="529761"/>
            </a:xfrm>
            <a:prstGeom prst="rect">
              <a:avLst/>
            </a:prstGeom>
          </p:spPr>
          <p:txBody>
            <a:bodyPr anchor="ctr" rtlCol="false" tIns="50800" lIns="50800" bIns="50800" rIns="50800"/>
            <a:lstStyle/>
            <a:p>
              <a:pPr algn="ctr">
                <a:lnSpc>
                  <a:spcPts val="6719"/>
                </a:lnSpc>
              </a:pPr>
              <a:r>
                <a:rPr lang="en-US" sz="4800">
                  <a:solidFill>
                    <a:srgbClr val="000000"/>
                  </a:solidFill>
                  <a:latin typeface="Canva Sans"/>
                  <a:ea typeface="Canva Sans"/>
                  <a:cs typeface="Canva Sans"/>
                  <a:sym typeface="Canva Sans"/>
                </a:rPr>
                <a:t>Output</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00545" y="-9802090"/>
            <a:ext cx="20089090" cy="20089090"/>
          </a:xfrm>
          <a:custGeom>
            <a:avLst/>
            <a:gdLst/>
            <a:ahLst/>
            <a:cxnLst/>
            <a:rect r="r" b="b" t="t" l="l"/>
            <a:pathLst>
              <a:path h="20089090" w="20089090">
                <a:moveTo>
                  <a:pt x="0" y="0"/>
                </a:moveTo>
                <a:lnTo>
                  <a:pt x="20089090" y="0"/>
                </a:lnTo>
                <a:lnTo>
                  <a:pt x="20089090" y="20089090"/>
                </a:lnTo>
                <a:lnTo>
                  <a:pt x="0" y="20089090"/>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name="TextBox 4" id="4"/>
          <p:cNvSpPr txBox="true"/>
          <p:nvPr/>
        </p:nvSpPr>
        <p:spPr>
          <a:xfrm rot="0">
            <a:off x="1286323" y="866775"/>
            <a:ext cx="10550605" cy="1434372"/>
          </a:xfrm>
          <a:prstGeom prst="rect">
            <a:avLst/>
          </a:prstGeom>
        </p:spPr>
        <p:txBody>
          <a:bodyPr anchor="t" rtlCol="false" tIns="0" lIns="0" bIns="0" rIns="0">
            <a:spAutoFit/>
          </a:bodyPr>
          <a:lstStyle/>
          <a:p>
            <a:pPr algn="ctr">
              <a:lnSpc>
                <a:spcPts val="11765"/>
              </a:lnSpc>
            </a:pPr>
            <a:r>
              <a:rPr lang="en-US" b="true" sz="8403" u="sng">
                <a:solidFill>
                  <a:srgbClr val="000000"/>
                </a:solidFill>
                <a:latin typeface="Canva Sans Bold"/>
                <a:ea typeface="Canva Sans Bold"/>
                <a:cs typeface="Canva Sans Bold"/>
                <a:sym typeface="Canva Sans Bold"/>
              </a:rPr>
              <a:t>Tools &amp; Frameworks </a:t>
            </a:r>
          </a:p>
        </p:txBody>
      </p:sp>
      <p:sp>
        <p:nvSpPr>
          <p:cNvPr name="TextBox 5" id="5"/>
          <p:cNvSpPr txBox="true"/>
          <p:nvPr/>
        </p:nvSpPr>
        <p:spPr>
          <a:xfrm rot="0">
            <a:off x="1028700" y="4232292"/>
            <a:ext cx="15459850" cy="3010440"/>
          </a:xfrm>
          <a:prstGeom prst="rect">
            <a:avLst/>
          </a:prstGeom>
        </p:spPr>
        <p:txBody>
          <a:bodyPr anchor="t" rtlCol="false" tIns="0" lIns="0" bIns="0" rIns="0">
            <a:spAutoFit/>
          </a:bodyPr>
          <a:lstStyle/>
          <a:p>
            <a:pPr algn="l" marL="1240435" indent="-620218" lvl="1">
              <a:lnSpc>
                <a:spcPts val="8043"/>
              </a:lnSpc>
              <a:buFont typeface="Arial"/>
              <a:buChar char="•"/>
            </a:pPr>
            <a:r>
              <a:rPr lang="en-US" sz="5745">
                <a:solidFill>
                  <a:srgbClr val="000000"/>
                </a:solidFill>
                <a:latin typeface="Canva Sans"/>
                <a:ea typeface="Canva Sans"/>
                <a:cs typeface="Canva Sans"/>
                <a:sym typeface="Canva Sans"/>
              </a:rPr>
              <a:t>Python, TensorFlow, NumPy, Pandas, Scikit-Learn, Matplotlib, Jupyter Notebook</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5765" y="-5457380"/>
            <a:ext cx="20392451" cy="16730214"/>
          </a:xfrm>
          <a:custGeom>
            <a:avLst/>
            <a:gdLst/>
            <a:ahLst/>
            <a:cxnLst/>
            <a:rect r="r" b="b" t="t" l="l"/>
            <a:pathLst>
              <a:path h="16730214" w="20392451">
                <a:moveTo>
                  <a:pt x="0" y="0"/>
                </a:moveTo>
                <a:lnTo>
                  <a:pt x="20392451" y="0"/>
                </a:lnTo>
                <a:lnTo>
                  <a:pt x="20392451" y="16730215"/>
                </a:lnTo>
                <a:lnTo>
                  <a:pt x="0" y="16730215"/>
                </a:lnTo>
                <a:lnTo>
                  <a:pt x="0" y="0"/>
                </a:lnTo>
                <a:close/>
              </a:path>
            </a:pathLst>
          </a:custGeom>
          <a:blipFill>
            <a:blip r:embed="rId2"/>
            <a:stretch>
              <a:fillRect l="0" t="-19226" r="0" b="-2663"/>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name="TextBox 4" id="4"/>
          <p:cNvSpPr txBox="true"/>
          <p:nvPr/>
        </p:nvSpPr>
        <p:spPr>
          <a:xfrm rot="0">
            <a:off x="1028700" y="885825"/>
            <a:ext cx="6504387" cy="1338544"/>
          </a:xfrm>
          <a:prstGeom prst="rect">
            <a:avLst/>
          </a:prstGeom>
        </p:spPr>
        <p:txBody>
          <a:bodyPr anchor="t" rtlCol="false" tIns="0" lIns="0" bIns="0" rIns="0">
            <a:spAutoFit/>
          </a:bodyPr>
          <a:lstStyle/>
          <a:p>
            <a:pPr algn="ctr">
              <a:lnSpc>
                <a:spcPts val="10992"/>
              </a:lnSpc>
            </a:pPr>
            <a:r>
              <a:rPr lang="en-US" b="true" sz="7851" u="sng">
                <a:solidFill>
                  <a:srgbClr val="000000"/>
                </a:solidFill>
                <a:latin typeface="Canva Sans Bold"/>
                <a:ea typeface="Canva Sans Bold"/>
                <a:cs typeface="Canva Sans Bold"/>
                <a:sym typeface="Canva Sans Bold"/>
              </a:rPr>
              <a:t>Methodology</a:t>
            </a:r>
          </a:p>
        </p:txBody>
      </p:sp>
      <p:sp>
        <p:nvSpPr>
          <p:cNvPr name="TextBox 5" id="5"/>
          <p:cNvSpPr txBox="true"/>
          <p:nvPr/>
        </p:nvSpPr>
        <p:spPr>
          <a:xfrm rot="0">
            <a:off x="891233" y="4255342"/>
            <a:ext cx="16998456" cy="3964115"/>
          </a:xfrm>
          <a:prstGeom prst="rect">
            <a:avLst/>
          </a:prstGeom>
        </p:spPr>
        <p:txBody>
          <a:bodyPr anchor="t" rtlCol="false" tIns="0" lIns="0" bIns="0" rIns="0">
            <a:spAutoFit/>
          </a:bodyPr>
          <a:lstStyle/>
          <a:p>
            <a:pPr algn="ctr">
              <a:lnSpc>
                <a:spcPts val="5669"/>
              </a:lnSpc>
            </a:pPr>
            <a:r>
              <a:rPr lang="en-US" sz="4049">
                <a:solidFill>
                  <a:srgbClr val="000000"/>
                </a:solidFill>
                <a:latin typeface="Canva Sans"/>
                <a:ea typeface="Canva Sans"/>
                <a:cs typeface="Canva Sans"/>
                <a:sym typeface="Canva Sans"/>
              </a:rPr>
              <a:t>• Data Loading → Normalization → Model Building → Training → Testing </a:t>
            </a:r>
          </a:p>
          <a:p>
            <a:pPr algn="ctr">
              <a:lnSpc>
                <a:spcPts val="5669"/>
              </a:lnSpc>
            </a:pPr>
          </a:p>
          <a:p>
            <a:pPr algn="ctr">
              <a:lnSpc>
                <a:spcPts val="5669"/>
              </a:lnSpc>
            </a:pPr>
          </a:p>
          <a:p>
            <a:pPr algn="ctr">
              <a:lnSpc>
                <a:spcPts val="5669"/>
              </a:lnSpc>
            </a:pPr>
          </a:p>
          <a:p>
            <a:pPr algn="ctr">
              <a:lnSpc>
                <a:spcPts val="917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8694" y="-8489694"/>
            <a:ext cx="18776694" cy="18776694"/>
          </a:xfrm>
          <a:custGeom>
            <a:avLst/>
            <a:gdLst/>
            <a:ahLst/>
            <a:cxnLst/>
            <a:rect r="r" b="b" t="t" l="l"/>
            <a:pathLst>
              <a:path h="18776694" w="18776694">
                <a:moveTo>
                  <a:pt x="0" y="0"/>
                </a:moveTo>
                <a:lnTo>
                  <a:pt x="18776694" y="0"/>
                </a:lnTo>
                <a:lnTo>
                  <a:pt x="18776694" y="18776694"/>
                </a:lnTo>
                <a:lnTo>
                  <a:pt x="0" y="18776694"/>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name="TextBox 4" id="4"/>
          <p:cNvSpPr txBox="true"/>
          <p:nvPr/>
        </p:nvSpPr>
        <p:spPr>
          <a:xfrm rot="0">
            <a:off x="1028700" y="876300"/>
            <a:ext cx="11250620" cy="1328510"/>
          </a:xfrm>
          <a:prstGeom prst="rect">
            <a:avLst/>
          </a:prstGeom>
        </p:spPr>
        <p:txBody>
          <a:bodyPr anchor="t" rtlCol="false" tIns="0" lIns="0" bIns="0" rIns="0">
            <a:spAutoFit/>
          </a:bodyPr>
          <a:lstStyle/>
          <a:p>
            <a:pPr algn="ctr">
              <a:lnSpc>
                <a:spcPts val="10812"/>
              </a:lnSpc>
            </a:pPr>
            <a:r>
              <a:rPr lang="en-US" b="true" sz="7723" u="sng">
                <a:solidFill>
                  <a:srgbClr val="000000"/>
                </a:solidFill>
                <a:latin typeface="Canva Sans Bold"/>
                <a:ea typeface="Canva Sans Bold"/>
                <a:cs typeface="Canva Sans Bold"/>
                <a:sym typeface="Canva Sans Bold"/>
              </a:rPr>
              <a:t>Neural  Network Model </a:t>
            </a:r>
          </a:p>
        </p:txBody>
      </p:sp>
      <p:sp>
        <p:nvSpPr>
          <p:cNvPr name="TextBox 5" id="5"/>
          <p:cNvSpPr txBox="true"/>
          <p:nvPr/>
        </p:nvSpPr>
        <p:spPr>
          <a:xfrm rot="0">
            <a:off x="323821" y="3959677"/>
            <a:ext cx="17640358" cy="3467555"/>
          </a:xfrm>
          <a:prstGeom prst="rect">
            <a:avLst/>
          </a:prstGeom>
        </p:spPr>
        <p:txBody>
          <a:bodyPr anchor="t" rtlCol="false" tIns="0" lIns="0" bIns="0" rIns="0">
            <a:spAutoFit/>
          </a:bodyPr>
          <a:lstStyle/>
          <a:p>
            <a:pPr algn="l" marL="854305" indent="-427152" lvl="1">
              <a:lnSpc>
                <a:spcPts val="5539"/>
              </a:lnSpc>
              <a:buFont typeface="Arial"/>
              <a:buChar char="•"/>
            </a:pPr>
            <a:r>
              <a:rPr lang="en-US" sz="3956">
                <a:solidFill>
                  <a:srgbClr val="000000"/>
                </a:solidFill>
                <a:latin typeface="Canva Sans"/>
                <a:ea typeface="Canva Sans"/>
                <a:cs typeface="Canva Sans"/>
                <a:sym typeface="Canva Sans"/>
              </a:rPr>
              <a:t>An artificial neural network is a processing framework modeled after the biological structure and operational mechanics of the human brain. It utilizes a web of linked units, known as neurons, that analyze information to detect and learn complex data patterns.</a:t>
            </a:r>
          </a:p>
          <a:p>
            <a:pPr algn="l">
              <a:lnSpc>
                <a:spcPts val="553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547" y="-8253847"/>
            <a:ext cx="18565094" cy="18565094"/>
          </a:xfrm>
          <a:custGeom>
            <a:avLst/>
            <a:gdLst/>
            <a:ahLst/>
            <a:cxnLst/>
            <a:rect r="r" b="b" t="t" l="l"/>
            <a:pathLst>
              <a:path h="18565094" w="18565094">
                <a:moveTo>
                  <a:pt x="0" y="0"/>
                </a:moveTo>
                <a:lnTo>
                  <a:pt x="18565094" y="0"/>
                </a:lnTo>
                <a:lnTo>
                  <a:pt x="18565094" y="18565094"/>
                </a:lnTo>
                <a:lnTo>
                  <a:pt x="0" y="18565094"/>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name="TextBox 4" id="4"/>
          <p:cNvSpPr txBox="true"/>
          <p:nvPr/>
        </p:nvSpPr>
        <p:spPr>
          <a:xfrm rot="0">
            <a:off x="1028700" y="885825"/>
            <a:ext cx="8193541" cy="1340706"/>
          </a:xfrm>
          <a:prstGeom prst="rect">
            <a:avLst/>
          </a:prstGeom>
        </p:spPr>
        <p:txBody>
          <a:bodyPr anchor="t" rtlCol="false" tIns="0" lIns="0" bIns="0" rIns="0">
            <a:spAutoFit/>
          </a:bodyPr>
          <a:lstStyle/>
          <a:p>
            <a:pPr algn="ctr">
              <a:lnSpc>
                <a:spcPts val="11012"/>
              </a:lnSpc>
            </a:pPr>
            <a:r>
              <a:rPr lang="en-US" b="true" sz="7866" u="sng">
                <a:solidFill>
                  <a:srgbClr val="000000"/>
                </a:solidFill>
                <a:latin typeface="Canva Sans Bold"/>
                <a:ea typeface="Canva Sans Bold"/>
                <a:cs typeface="Canva Sans Bold"/>
                <a:sym typeface="Canva Sans Bold"/>
              </a:rPr>
              <a:t>Training  Process</a:t>
            </a:r>
          </a:p>
        </p:txBody>
      </p:sp>
      <p:sp>
        <p:nvSpPr>
          <p:cNvPr name="TextBox 5" id="5"/>
          <p:cNvSpPr txBox="true"/>
          <p:nvPr/>
        </p:nvSpPr>
        <p:spPr>
          <a:xfrm rot="0">
            <a:off x="582359" y="4178723"/>
            <a:ext cx="17279765" cy="3041661"/>
          </a:xfrm>
          <a:prstGeom prst="rect">
            <a:avLst/>
          </a:prstGeom>
        </p:spPr>
        <p:txBody>
          <a:bodyPr anchor="t" rtlCol="false" tIns="0" lIns="0" bIns="0" rIns="0">
            <a:spAutoFit/>
          </a:bodyPr>
          <a:lstStyle/>
          <a:p>
            <a:pPr algn="l" marL="937722" indent="-468861" lvl="1">
              <a:lnSpc>
                <a:spcPts val="6080"/>
              </a:lnSpc>
              <a:buFont typeface="Arial"/>
              <a:buChar char="•"/>
            </a:pPr>
            <a:r>
              <a:rPr lang="en-US" sz="4343">
                <a:solidFill>
                  <a:srgbClr val="000000"/>
                </a:solidFill>
                <a:latin typeface="Canva Sans"/>
                <a:ea typeface="Canva Sans"/>
                <a:cs typeface="Canva Sans"/>
                <a:sym typeface="Canva Sans"/>
              </a:rPr>
              <a:t>The training phase is a vital part of building a neural network. During this period, the model identifies trends and correlations within the data, fine-tuning its internal settings to achieve more precise results.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4092" y="-8749185"/>
            <a:ext cx="19036185" cy="19036185"/>
          </a:xfrm>
          <a:custGeom>
            <a:avLst/>
            <a:gdLst/>
            <a:ahLst/>
            <a:cxnLst/>
            <a:rect r="r" b="b" t="t" l="l"/>
            <a:pathLst>
              <a:path h="19036185" w="19036185">
                <a:moveTo>
                  <a:pt x="0" y="0"/>
                </a:moveTo>
                <a:lnTo>
                  <a:pt x="19036184" y="0"/>
                </a:lnTo>
                <a:lnTo>
                  <a:pt x="19036184" y="19036185"/>
                </a:lnTo>
                <a:lnTo>
                  <a:pt x="0" y="19036185"/>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name="TextBox 4" id="4"/>
          <p:cNvSpPr txBox="true"/>
          <p:nvPr/>
        </p:nvSpPr>
        <p:spPr>
          <a:xfrm rot="0">
            <a:off x="1028700" y="866775"/>
            <a:ext cx="9522942" cy="1394598"/>
          </a:xfrm>
          <a:prstGeom prst="rect">
            <a:avLst/>
          </a:prstGeom>
        </p:spPr>
        <p:txBody>
          <a:bodyPr anchor="t" rtlCol="false" tIns="0" lIns="0" bIns="0" rIns="0">
            <a:spAutoFit/>
          </a:bodyPr>
          <a:lstStyle/>
          <a:p>
            <a:pPr algn="ctr">
              <a:lnSpc>
                <a:spcPts val="11332"/>
              </a:lnSpc>
            </a:pPr>
            <a:r>
              <a:rPr lang="en-US" b="true" sz="8094" u="sng">
                <a:solidFill>
                  <a:srgbClr val="000000"/>
                </a:solidFill>
                <a:latin typeface="Canva Sans Bold"/>
                <a:ea typeface="Canva Sans Bold"/>
                <a:cs typeface="Canva Sans Bold"/>
                <a:sym typeface="Canva Sans Bold"/>
              </a:rPr>
              <a:t>Results &amp; Accuracy</a:t>
            </a:r>
          </a:p>
        </p:txBody>
      </p:sp>
      <p:sp>
        <p:nvSpPr>
          <p:cNvPr name="TextBox 5" id="5"/>
          <p:cNvSpPr txBox="true"/>
          <p:nvPr/>
        </p:nvSpPr>
        <p:spPr>
          <a:xfrm rot="0">
            <a:off x="302838" y="4334312"/>
            <a:ext cx="17099099" cy="3693097"/>
          </a:xfrm>
          <a:prstGeom prst="rect">
            <a:avLst/>
          </a:prstGeom>
        </p:spPr>
        <p:txBody>
          <a:bodyPr anchor="t" rtlCol="false" tIns="0" lIns="0" bIns="0" rIns="0">
            <a:spAutoFit/>
          </a:bodyPr>
          <a:lstStyle/>
          <a:p>
            <a:pPr algn="l" marL="911120" indent="-455560" lvl="1">
              <a:lnSpc>
                <a:spcPts val="5908"/>
              </a:lnSpc>
              <a:buFont typeface="Arial"/>
              <a:buChar char="•"/>
            </a:pPr>
            <a:r>
              <a:rPr lang="en-US" sz="4220">
                <a:solidFill>
                  <a:srgbClr val="000000"/>
                </a:solidFill>
                <a:latin typeface="Canva Sans"/>
                <a:ea typeface="Canva Sans"/>
                <a:cs typeface="Canva Sans"/>
                <a:sym typeface="Canva Sans"/>
              </a:rPr>
              <a:t>Following the successful training of the neural network on the MNIST dataset, its performance was assessed using a test set of 10,000 handwritten digits. This evaluation measured the model’s precision in identifying new, previously unseen images.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5263" y="-8503197"/>
            <a:ext cx="19978527" cy="19978527"/>
          </a:xfrm>
          <a:custGeom>
            <a:avLst/>
            <a:gdLst/>
            <a:ahLst/>
            <a:cxnLst/>
            <a:rect r="r" b="b" t="t" l="l"/>
            <a:pathLst>
              <a:path h="19978527" w="19978527">
                <a:moveTo>
                  <a:pt x="0" y="0"/>
                </a:moveTo>
                <a:lnTo>
                  <a:pt x="19978526" y="0"/>
                </a:lnTo>
                <a:lnTo>
                  <a:pt x="19978526" y="19978527"/>
                </a:lnTo>
                <a:lnTo>
                  <a:pt x="0" y="19978527"/>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name="TextBox 4" id="4"/>
          <p:cNvSpPr txBox="true"/>
          <p:nvPr/>
        </p:nvSpPr>
        <p:spPr>
          <a:xfrm rot="0">
            <a:off x="1028700" y="692878"/>
            <a:ext cx="6828476" cy="1424452"/>
          </a:xfrm>
          <a:prstGeom prst="rect">
            <a:avLst/>
          </a:prstGeom>
        </p:spPr>
        <p:txBody>
          <a:bodyPr anchor="t" rtlCol="false" tIns="0" lIns="0" bIns="0" rIns="0">
            <a:spAutoFit/>
          </a:bodyPr>
          <a:lstStyle/>
          <a:p>
            <a:pPr algn="ctr">
              <a:lnSpc>
                <a:spcPts val="11607"/>
              </a:lnSpc>
            </a:pPr>
            <a:r>
              <a:rPr lang="en-US" b="true" sz="8290" u="sng">
                <a:solidFill>
                  <a:srgbClr val="000000"/>
                </a:solidFill>
                <a:latin typeface="Canva Sans Bold"/>
                <a:ea typeface="Canva Sans Bold"/>
                <a:cs typeface="Canva Sans Bold"/>
                <a:sym typeface="Canva Sans Bold"/>
              </a:rPr>
              <a:t>Future Scope</a:t>
            </a:r>
          </a:p>
        </p:txBody>
      </p:sp>
      <p:sp>
        <p:nvSpPr>
          <p:cNvPr name="TextBox 5" id="5"/>
          <p:cNvSpPr txBox="true"/>
          <p:nvPr/>
        </p:nvSpPr>
        <p:spPr>
          <a:xfrm rot="0">
            <a:off x="556683" y="4316197"/>
            <a:ext cx="17842577" cy="3257587"/>
          </a:xfrm>
          <a:prstGeom prst="rect">
            <a:avLst/>
          </a:prstGeom>
        </p:spPr>
        <p:txBody>
          <a:bodyPr anchor="t" rtlCol="false" tIns="0" lIns="0" bIns="0" rIns="0">
            <a:spAutoFit/>
          </a:bodyPr>
          <a:lstStyle/>
          <a:p>
            <a:pPr algn="l" marL="1003199" indent="-501600" lvl="1">
              <a:lnSpc>
                <a:spcPts val="6505"/>
              </a:lnSpc>
              <a:buFont typeface="Arial"/>
              <a:buChar char="•"/>
            </a:pPr>
            <a:r>
              <a:rPr lang="en-US" sz="4646">
                <a:solidFill>
                  <a:srgbClr val="000000"/>
                </a:solidFill>
                <a:latin typeface="Canva Sans"/>
                <a:ea typeface="Canva Sans"/>
                <a:cs typeface="Canva Sans"/>
                <a:sym typeface="Canva Sans"/>
              </a:rPr>
              <a:t>While the current Neural Network effectively classifies handwritten digits from the MNIST dataset with high accuracy, there is significant potential for further refinement and functional expansion.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54499" y="-9309998"/>
            <a:ext cx="19596998" cy="19596998"/>
          </a:xfrm>
          <a:custGeom>
            <a:avLst/>
            <a:gdLst/>
            <a:ahLst/>
            <a:cxnLst/>
            <a:rect r="r" b="b" t="t" l="l"/>
            <a:pathLst>
              <a:path h="19596998" w="19596998">
                <a:moveTo>
                  <a:pt x="0" y="0"/>
                </a:moveTo>
                <a:lnTo>
                  <a:pt x="19596998" y="0"/>
                </a:lnTo>
                <a:lnTo>
                  <a:pt x="19596998" y="19596998"/>
                </a:lnTo>
                <a:lnTo>
                  <a:pt x="0" y="19596998"/>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name="TextBox 4" id="4"/>
          <p:cNvSpPr txBox="true"/>
          <p:nvPr/>
        </p:nvSpPr>
        <p:spPr>
          <a:xfrm rot="0">
            <a:off x="1028700" y="866775"/>
            <a:ext cx="6217549" cy="1520422"/>
          </a:xfrm>
          <a:prstGeom prst="rect">
            <a:avLst/>
          </a:prstGeom>
        </p:spPr>
        <p:txBody>
          <a:bodyPr anchor="t" rtlCol="false" tIns="0" lIns="0" bIns="0" rIns="0">
            <a:spAutoFit/>
          </a:bodyPr>
          <a:lstStyle/>
          <a:p>
            <a:pPr algn="ctr">
              <a:lnSpc>
                <a:spcPts val="12489"/>
              </a:lnSpc>
            </a:pPr>
            <a:r>
              <a:rPr lang="en-US" b="true" sz="8921" u="sng">
                <a:solidFill>
                  <a:srgbClr val="000000"/>
                </a:solidFill>
                <a:latin typeface="Canva Sans Bold"/>
                <a:ea typeface="Canva Sans Bold"/>
                <a:cs typeface="Canva Sans Bold"/>
                <a:sym typeface="Canva Sans Bold"/>
              </a:rPr>
              <a:t>Conclusion</a:t>
            </a:r>
          </a:p>
        </p:txBody>
      </p:sp>
      <p:sp>
        <p:nvSpPr>
          <p:cNvPr name="TextBox 5" id="5"/>
          <p:cNvSpPr txBox="true"/>
          <p:nvPr/>
        </p:nvSpPr>
        <p:spPr>
          <a:xfrm rot="0">
            <a:off x="583197" y="4522558"/>
            <a:ext cx="17704803" cy="3355497"/>
          </a:xfrm>
          <a:prstGeom prst="rect">
            <a:avLst/>
          </a:prstGeom>
        </p:spPr>
        <p:txBody>
          <a:bodyPr anchor="t" rtlCol="false" tIns="0" lIns="0" bIns="0" rIns="0">
            <a:spAutoFit/>
          </a:bodyPr>
          <a:lstStyle/>
          <a:p>
            <a:pPr algn="l" marL="1037281" indent="-518641" lvl="1">
              <a:lnSpc>
                <a:spcPts val="6726"/>
              </a:lnSpc>
              <a:buFont typeface="Arial"/>
              <a:buChar char="•"/>
            </a:pPr>
            <a:r>
              <a:rPr lang="en-US" sz="4804">
                <a:solidFill>
                  <a:srgbClr val="000000"/>
                </a:solidFill>
                <a:latin typeface="Canva Sans"/>
                <a:ea typeface="Canva Sans"/>
                <a:cs typeface="Canva Sans"/>
                <a:sym typeface="Canva Sans"/>
              </a:rPr>
              <a:t>The 'MNIST Digit Classification Using Neural Networks' project was successfully completed, utilizing Python, TensorFlow, and Keras for its development and implementation.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21441" y="-9538856"/>
            <a:ext cx="19825856" cy="19825856"/>
          </a:xfrm>
          <a:custGeom>
            <a:avLst/>
            <a:gdLst/>
            <a:ahLst/>
            <a:cxnLst/>
            <a:rect r="r" b="b" t="t" l="l"/>
            <a:pathLst>
              <a:path h="19825856" w="19825856">
                <a:moveTo>
                  <a:pt x="0" y="0"/>
                </a:moveTo>
                <a:lnTo>
                  <a:pt x="19825856" y="0"/>
                </a:lnTo>
                <a:lnTo>
                  <a:pt x="19825856" y="19825856"/>
                </a:lnTo>
                <a:lnTo>
                  <a:pt x="0" y="19825856"/>
                </a:lnTo>
                <a:lnTo>
                  <a:pt x="0" y="0"/>
                </a:lnTo>
                <a:close/>
              </a:path>
            </a:pathLst>
          </a:custGeom>
          <a:blipFill>
            <a:blip r:embed="rId2"/>
            <a:stretch>
              <a:fillRect l="0" t="0" r="0" b="0"/>
            </a:stretch>
          </a:blipFill>
        </p:spPr>
      </p:sp>
      <p:sp>
        <p:nvSpPr>
          <p:cNvPr name="TextBox 3" id="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name="TextBox 4" id="4"/>
          <p:cNvSpPr txBox="true"/>
          <p:nvPr/>
        </p:nvSpPr>
        <p:spPr>
          <a:xfrm rot="0">
            <a:off x="1028700" y="866775"/>
            <a:ext cx="5662233" cy="1515964"/>
          </a:xfrm>
          <a:prstGeom prst="rect">
            <a:avLst/>
          </a:prstGeom>
        </p:spPr>
        <p:txBody>
          <a:bodyPr anchor="t" rtlCol="false" tIns="0" lIns="0" bIns="0" rIns="0">
            <a:spAutoFit/>
          </a:bodyPr>
          <a:lstStyle/>
          <a:p>
            <a:pPr algn="ctr">
              <a:lnSpc>
                <a:spcPts val="12448"/>
              </a:lnSpc>
            </a:pPr>
            <a:r>
              <a:rPr lang="en-US" b="true" sz="8891" u="sng">
                <a:solidFill>
                  <a:srgbClr val="000000"/>
                </a:solidFill>
                <a:latin typeface="Canva Sans Bold"/>
                <a:ea typeface="Canva Sans Bold"/>
                <a:cs typeface="Canva Sans Bold"/>
                <a:sym typeface="Canva Sans Bold"/>
              </a:rPr>
              <a:t>Thank you</a:t>
            </a:r>
          </a:p>
        </p:txBody>
      </p:sp>
      <p:sp>
        <p:nvSpPr>
          <p:cNvPr name="TextBox 5" id="5"/>
          <p:cNvSpPr txBox="true"/>
          <p:nvPr/>
        </p:nvSpPr>
        <p:spPr>
          <a:xfrm rot="0">
            <a:off x="767908" y="4652278"/>
            <a:ext cx="16752184" cy="887195"/>
          </a:xfrm>
          <a:prstGeom prst="rect">
            <a:avLst/>
          </a:prstGeom>
        </p:spPr>
        <p:txBody>
          <a:bodyPr anchor="t" rtlCol="false" tIns="0" lIns="0" bIns="0" rIns="0">
            <a:spAutoFit/>
          </a:bodyPr>
          <a:lstStyle/>
          <a:p>
            <a:pPr algn="l" marL="1131629" indent="-565814" lvl="1">
              <a:lnSpc>
                <a:spcPts val="7338"/>
              </a:lnSpc>
              <a:buFont typeface="Arial"/>
              <a:buChar char="•"/>
            </a:pPr>
            <a:r>
              <a:rPr lang="en-US" sz="5241">
                <a:solidFill>
                  <a:srgbClr val="000000"/>
                </a:solidFill>
                <a:latin typeface="Canva Sans"/>
                <a:ea typeface="Canva Sans"/>
                <a:cs typeface="Canva Sans"/>
                <a:sym typeface="Canva Sans"/>
              </a:rPr>
              <a:t>Thank you for your attention and interest.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DAHNx4TSRnA</dc:identifier>
  <dcterms:modified xsi:type="dcterms:W3CDTF">2011-08-01T06:04:30Z</dcterms:modified>
  <cp:revision>1</cp:revision>
  <dc:title>TITLE SLIDE</dc:title>
</cp:coreProperties>
</file>